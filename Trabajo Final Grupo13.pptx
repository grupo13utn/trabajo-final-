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58384"/>
            <a:ext cx="12191695" cy="1499616"/>
          </a:xfrm>
          <a:prstGeom prst="rect">
            <a:avLst/>
          </a:prstGeom>
          <a:solidFill>
            <a:srgbClr val="20232A"/>
          </a:solidFill>
          <a:ln w="8890">
            <a:solidFill>
              <a:srgbClr val="20232A">
                <a:alpha val="0"/>
              </a:srgbClr>
            </a:solidFill>
            <a:prstDash val="solid"/>
          </a:ln>
        </p:spPr>
      </p:sp>
      <p:pic>
        <p:nvPicPr>
          <p:cNvPr id="4" name="Image 0" descr="/mnt/data/image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2" y="484632"/>
            <a:ext cx="3081528" cy="6309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804672"/>
            <a:ext cx="3054096" cy="329184"/>
          </a:xfrm>
          <a:prstGeom prst="roundRect">
            <a:avLst>
              <a:gd name="adj" fmla="val 36111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84582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 INTEGRADOR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1527048"/>
            <a:ext cx="98298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temprana de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deserción universitaria</a:t>
            </a:r>
            <a:endParaRPr lang="en-US" sz="3500" dirty="0"/>
          </a:p>
        </p:txBody>
      </p:sp>
      <p:sp>
        <p:nvSpPr>
          <p:cNvPr id="8" name="Shape 5"/>
          <p:cNvSpPr/>
          <p:nvPr/>
        </p:nvSpPr>
        <p:spPr>
          <a:xfrm>
            <a:off x="740664" y="3319272"/>
            <a:ext cx="704088" cy="6858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364845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del abandono al cierre del primer semestre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49808" y="563270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N.º 13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60899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6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Cadaveira · Gimenez · Barbieri · Vázquez · Amaya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555480" y="6099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abandono que se detecta tarde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Politécnico de Portalegre, Portugal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1828800"/>
            <a:ext cx="3337560" cy="2761488"/>
          </a:xfrm>
          <a:prstGeom prst="roundRect">
            <a:avLst>
              <a:gd name="adj" fmla="val 6623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828800"/>
            <a:ext cx="64008" cy="2761488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99339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32 %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804672" y="269748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estudiantes abandonan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3154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1.421 de 4.424 estudiantes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24528" y="1828800"/>
            <a:ext cx="7296912" cy="128016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993392"/>
            <a:ext cx="6876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existentes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34840" y="2450592"/>
            <a:ext cx="6876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Notas, materias cursadas, becas, deuda y estado de la matrícula.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24528" y="3355848"/>
            <a:ext cx="7296912" cy="1280160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3520440"/>
            <a:ext cx="6876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pendiente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34840" y="3977640"/>
            <a:ext cx="6876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esas señales para contactar a quienes más necesitan apoyo.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24528" y="4937760"/>
            <a:ext cx="7296912" cy="603504"/>
          </a:xfrm>
          <a:prstGeom prst="roundRect">
            <a:avLst>
              <a:gd name="adj" fmla="val 30303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5084064"/>
            <a:ext cx="6821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no es solo quién abandona, sino a quién ayudar primero.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alerta temprana, antes de que sea tarde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clasificación binaria con información disponible hasta el 1.er semestre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0936" y="2002536"/>
            <a:ext cx="3557016" cy="2880360"/>
          </a:xfrm>
          <a:prstGeom prst="roundRect">
            <a:avLst>
              <a:gd name="adj" fmla="val 634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27685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AD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859536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9536" y="3511296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Rendimiento, perfil y situación de pago al cierre del primer semestre.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33672" y="299008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17136" y="2002536"/>
            <a:ext cx="3557016" cy="2880360"/>
          </a:xfrm>
          <a:prstGeom prst="roundRect">
            <a:avLst>
              <a:gd name="adj" fmla="val 6349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227685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4745736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45736" y="3511296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a cada estudiante una probabilidad de abandono.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19872" y="299008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03336" y="2002536"/>
            <a:ext cx="3557016" cy="2880360"/>
          </a:xfrm>
          <a:prstGeom prst="roundRect">
            <a:avLst>
              <a:gd name="adj" fmla="val 634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31936" y="2276856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AD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8631936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31936" y="3511296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Ordenar la lista y ofrecer tutorías a quienes tienen mayor riesgo.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" y="5230368"/>
            <a:ext cx="3749040" cy="329184"/>
          </a:xfrm>
          <a:prstGeom prst="roundRect">
            <a:avLst>
              <a:gd name="adj" fmla="val 36111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52715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MÍNIMA: RECALL ≥ 70 %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5166360"/>
            <a:ext cx="6583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operativo elegido: alcanzar aproximadamente un 80 % de Recall.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base: 4.424 trayectorias universitarias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UCI «Predict Students’ Dropout and Academic Success»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975104"/>
            <a:ext cx="5433301" cy="758952"/>
          </a:xfrm>
          <a:prstGeom prst="rect">
            <a:avLst/>
          </a:prstGeom>
          <a:solidFill>
            <a:srgbClr val="36526C"/>
          </a:solidFill>
          <a:ln w="8890">
            <a:solidFill>
              <a:srgbClr val="36526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48840"/>
            <a:ext cx="534186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50,0 %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19101" y="1975104"/>
            <a:ext cx="3495120" cy="75895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4821" y="2148840"/>
            <a:ext cx="3403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32,1 %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14222" y="1975104"/>
            <a:ext cx="1952938" cy="758952"/>
          </a:xfrm>
          <a:prstGeom prst="rect">
            <a:avLst/>
          </a:prstGeom>
          <a:solidFill>
            <a:srgbClr val="ADB4BC"/>
          </a:solidFill>
          <a:ln w="8890">
            <a:solidFill>
              <a:srgbClr val="ADB4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59942" y="2148840"/>
            <a:ext cx="186149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17,9 %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3127248"/>
            <a:ext cx="164592" cy="164592"/>
          </a:xfrm>
          <a:prstGeom prst="ellipse">
            <a:avLst/>
          </a:prstGeom>
          <a:solidFill>
            <a:srgbClr val="36526C"/>
          </a:solidFill>
          <a:ln w="8890">
            <a:solidFill>
              <a:srgbClr val="36526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Graduados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78408" y="3511296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65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2.209 alumnos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572000" y="3127248"/>
            <a:ext cx="164592" cy="164592"/>
          </a:xfrm>
          <a:prstGeom prst="ellipse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64608" y="3511296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1.421 alumnos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458200" y="3127248"/>
            <a:ext cx="164592" cy="164592"/>
          </a:xfrm>
          <a:prstGeom prst="ellipse">
            <a:avLst/>
          </a:prstGeom>
          <a:solidFill>
            <a:srgbClr val="ADB4BC"/>
          </a:solidFill>
          <a:ln w="8890">
            <a:solidFill>
              <a:srgbClr val="ADB4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3026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Matriculados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750808" y="3511296"/>
            <a:ext cx="3291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DB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794 alumnos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85800" y="4590288"/>
            <a:ext cx="10881360" cy="786384"/>
          </a:xfrm>
          <a:prstGeom prst="roundRect">
            <a:avLst>
              <a:gd name="adj" fmla="val 2325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745736"/>
            <a:ext cx="10387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objetivo: ABANDONO = 1   ·   NO ABANDONO = 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" y="613562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grupo «No abandono» incluye graduados y estudiantes aún matriculados, según la definición del informe.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preparados para una predicción temprana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CRISP-DM · preprocesamiento dentro de pipelines para evitar fugas de información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3529584" cy="22860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 datos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4688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nulos ni duplicados. Se reconstruyeron promedios mal formateados y se marcó la anomalía de 180 inscripciones en cero.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4256" y="1847088"/>
            <a:ext cx="3529584" cy="22860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filtración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44568" y="24688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excluyó la información del segundo semestre y la variable de resultado del conjunto de predictores.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28432" y="1847088"/>
            <a:ext cx="3529584" cy="22860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variables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38744" y="246888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0,1: Pearson para numéricas y V de Cramér para categóricas, solo con entrenamiento.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" y="4407408"/>
            <a:ext cx="3493008" cy="1399032"/>
          </a:xfrm>
          <a:prstGeom prst="roundRect">
            <a:avLst>
              <a:gd name="adj" fmla="val 13072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" y="4407408"/>
            <a:ext cx="64008" cy="1399032"/>
          </a:xfrm>
          <a:prstGeom prst="rect">
            <a:avLst/>
          </a:prstGeom>
          <a:solidFill>
            <a:srgbClr val="20232A"/>
          </a:solidFill>
          <a:ln w="8890">
            <a:solidFill>
              <a:srgbClr val="20232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4572000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700" dirty="0"/>
          </a:p>
        </p:txBody>
      </p:sp>
      <p:sp>
        <p:nvSpPr>
          <p:cNvPr id="22" name="Text 20"/>
          <p:cNvSpPr/>
          <p:nvPr/>
        </p:nvSpPr>
        <p:spPr>
          <a:xfrm>
            <a:off x="832104" y="527608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finales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43400" y="4407408"/>
            <a:ext cx="3493008" cy="1399032"/>
          </a:xfrm>
          <a:prstGeom prst="roundRect">
            <a:avLst>
              <a:gd name="adj" fmla="val 13072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4407408"/>
            <a:ext cx="64008" cy="139903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572000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</a:t>
            </a:r>
            <a:endParaRPr lang="en-US" sz="3700" dirty="0"/>
          </a:p>
        </p:txBody>
      </p:sp>
      <p:sp>
        <p:nvSpPr>
          <p:cNvPr id="26" name="Text 24"/>
          <p:cNvSpPr/>
          <p:nvPr/>
        </p:nvSpPr>
        <p:spPr>
          <a:xfrm>
            <a:off x="4526280" y="527608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 y prueba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28432" y="4407408"/>
            <a:ext cx="3493008" cy="1399032"/>
          </a:xfrm>
          <a:prstGeom prst="roundRect">
            <a:avLst>
              <a:gd name="adj" fmla="val 13072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4407408"/>
            <a:ext cx="64008" cy="1399032"/>
          </a:xfrm>
          <a:prstGeom prst="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4572000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00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folds</a:t>
            </a:r>
            <a:endParaRPr lang="en-US" sz="3700" dirty="0"/>
          </a:p>
        </p:txBody>
      </p:sp>
      <p:sp>
        <p:nvSpPr>
          <p:cNvPr id="30" name="Text 28"/>
          <p:cNvSpPr/>
          <p:nvPr/>
        </p:nvSpPr>
        <p:spPr>
          <a:xfrm>
            <a:off x="8211312" y="5276088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cruzada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señales anticipan el abandono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exploratorio: asociaciones, no relaciones de causalidad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" y="1755648"/>
            <a:ext cx="3712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aprobó ninguna materia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837944"/>
            <a:ext cx="6227064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837944"/>
            <a:ext cx="5728899" cy="155448"/>
          </a:xfrm>
          <a:prstGeom prst="round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08208" y="174193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" y="2194560"/>
            <a:ext cx="3712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Aprobó todas las materias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276856"/>
            <a:ext cx="6227064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276856"/>
            <a:ext cx="560436" cy="155448"/>
          </a:xfrm>
          <a:prstGeom prst="round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8208" y="218084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" y="2633472"/>
            <a:ext cx="3712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 impaga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2715768"/>
            <a:ext cx="6227064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715768"/>
            <a:ext cx="5417546" cy="155448"/>
          </a:xfrm>
          <a:prstGeom prst="round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08208" y="261975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3072384"/>
            <a:ext cx="3712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 al día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3154680"/>
            <a:ext cx="6227064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154680"/>
            <a:ext cx="1556766" cy="155448"/>
          </a:xfrm>
          <a:prstGeom prst="round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08208" y="305866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" y="3511296"/>
            <a:ext cx="3712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Deudor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80560" y="3593592"/>
            <a:ext cx="6227064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3593592"/>
            <a:ext cx="3860780" cy="155448"/>
          </a:xfrm>
          <a:prstGeom prst="round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08208" y="349758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" y="3950208"/>
            <a:ext cx="3712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deuda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4032504"/>
            <a:ext cx="6227064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4032504"/>
            <a:ext cx="1743578" cy="155448"/>
          </a:xfrm>
          <a:prstGeom prst="round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08208" y="393649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8096" y="4389120"/>
            <a:ext cx="3712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beca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80560" y="4471416"/>
            <a:ext cx="6227064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0560" y="4471416"/>
            <a:ext cx="2428555" cy="155448"/>
          </a:xfrm>
          <a:prstGeom prst="round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08208" y="437540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8096" y="4828032"/>
            <a:ext cx="37124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Becario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80560" y="4910328"/>
            <a:ext cx="6227064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0" y="4910328"/>
            <a:ext cx="747248" cy="155448"/>
          </a:xfrm>
          <a:prstGeom prst="round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08208" y="481431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520" y="5650992"/>
            <a:ext cx="10753344" cy="411480"/>
          </a:xfrm>
          <a:prstGeom prst="roundRect">
            <a:avLst>
              <a:gd name="adj" fmla="val 44444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" y="5678424"/>
            <a:ext cx="10314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académico y estado de pago son las señales más marcadas.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algoritmos y un criterio de selección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por PR-AUC en validación cruzada (entrenamiento)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84708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86200" y="1911096"/>
            <a:ext cx="6629400" cy="20116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911096"/>
            <a:ext cx="5588584" cy="201168"/>
          </a:xfrm>
          <a:prstGeom prst="round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71632" y="1847088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0,843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86200" y="2487168"/>
            <a:ext cx="6629400" cy="20116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2487168"/>
            <a:ext cx="5581955" cy="201168"/>
          </a:xfrm>
          <a:prstGeom prst="roundRect">
            <a:avLst/>
          </a:prstGeom>
          <a:solidFill>
            <a:srgbClr val="36526C"/>
          </a:solidFill>
          <a:ln w="8890">
            <a:solidFill>
              <a:srgbClr val="36526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71632" y="2423160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0,842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29992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886200" y="3063240"/>
            <a:ext cx="6629400" cy="20116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3063240"/>
            <a:ext cx="5568696" cy="201168"/>
          </a:xfrm>
          <a:prstGeom prst="roundRect">
            <a:avLst/>
          </a:prstGeom>
          <a:solidFill>
            <a:srgbClr val="36526C"/>
          </a:solidFill>
          <a:ln w="8890">
            <a:solidFill>
              <a:srgbClr val="36526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71632" y="299923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0,840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57530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Logística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86200" y="3639312"/>
            <a:ext cx="6629400" cy="20116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3639312"/>
            <a:ext cx="5562067" cy="201168"/>
          </a:xfrm>
          <a:prstGeom prst="roundRect">
            <a:avLst/>
          </a:prstGeom>
          <a:solidFill>
            <a:srgbClr val="36526C"/>
          </a:solidFill>
          <a:ln w="8890">
            <a:solidFill>
              <a:srgbClr val="36526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71632" y="3575304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0,839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41513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886200" y="4215384"/>
            <a:ext cx="6629400" cy="20116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4215384"/>
            <a:ext cx="5555437" cy="201168"/>
          </a:xfrm>
          <a:prstGeom prst="roundRect">
            <a:avLst/>
          </a:prstGeom>
          <a:solidFill>
            <a:srgbClr val="36526C"/>
          </a:solidFill>
          <a:ln w="8890">
            <a:solidFill>
              <a:srgbClr val="36526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71632" y="4151376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0,838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47274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886200" y="4791456"/>
            <a:ext cx="6629400" cy="20116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86200" y="4791456"/>
            <a:ext cx="5542178" cy="201168"/>
          </a:xfrm>
          <a:prstGeom prst="roundRect">
            <a:avLst/>
          </a:prstGeom>
          <a:solidFill>
            <a:srgbClr val="36526C"/>
          </a:solidFill>
          <a:ln w="8890">
            <a:solidFill>
              <a:srgbClr val="36526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71632" y="4727448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0,836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8952" y="5641848"/>
            <a:ext cx="10744200" cy="420624"/>
          </a:xfrm>
          <a:prstGeom prst="roundRect">
            <a:avLst>
              <a:gd name="adj" fmla="val 43478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" y="5678424"/>
            <a:ext cx="10268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entre el mejor y el último: 0,007 puntos de PR-AUC.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DE LA ALERTA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 clave: optimizar el umbral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XGBoost: tres configuraciones comparadas en el conjunto de prueba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" y="1847088"/>
            <a:ext cx="3547872" cy="3364992"/>
          </a:xfrm>
          <a:prstGeom prst="roundRect">
            <a:avLst>
              <a:gd name="adj" fmla="val 543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3055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defecto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2752344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365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69,7 %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923544" y="34472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3544" y="3895344"/>
            <a:ext cx="3017520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087368"/>
            <a:ext cx="3099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79,5 %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" y="4608576"/>
            <a:ext cx="3063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0,500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35424" y="1847088"/>
            <a:ext cx="3547872" cy="3364992"/>
          </a:xfrm>
          <a:prstGeom prst="roundRect">
            <a:avLst>
              <a:gd name="adj" fmla="val 543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13055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Hiperparámetros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754880" y="2752344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365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81,0 %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4764024" y="34472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64024" y="3895344"/>
            <a:ext cx="3017520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4087368"/>
            <a:ext cx="3099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75,7 %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64024" y="4608576"/>
            <a:ext cx="3063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y árboles ajustados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75904" y="1847088"/>
            <a:ext cx="3547872" cy="3364992"/>
          </a:xfrm>
          <a:prstGeom prst="roundRect">
            <a:avLst>
              <a:gd name="adj" fmla="val 5435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13055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optimizado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595360" y="2752344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82,7 %</a:t>
            </a:r>
            <a:endParaRPr lang="en-US" sz="3900" dirty="0"/>
          </a:p>
        </p:txBody>
      </p:sp>
      <p:sp>
        <p:nvSpPr>
          <p:cNvPr id="27" name="Text 25"/>
          <p:cNvSpPr/>
          <p:nvPr/>
        </p:nvSpPr>
        <p:spPr>
          <a:xfrm>
            <a:off x="8604504" y="34472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04504" y="3895344"/>
            <a:ext cx="3017520" cy="0"/>
          </a:xfrm>
          <a:prstGeom prst="line">
            <a:avLst/>
          </a:prstGeom>
          <a:noFill/>
          <a:ln w="12700">
            <a:solidFill>
              <a:srgbClr val="E1E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04504" y="4087368"/>
            <a:ext cx="3099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74,8 %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04504" y="4608576"/>
            <a:ext cx="3063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Umbral 0,474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613562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privilegió recuperar abandonos aunque aumenten algunas alertas sobre estudiantes que no desertan.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Desempeño final: XGBoost elegido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independiente · 885 estudiantes · 284 abandonos reales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7512" y="1764792"/>
            <a:ext cx="10927080" cy="502920"/>
          </a:xfrm>
          <a:prstGeom prst="roundRect">
            <a:avLst/>
          </a:prstGeom>
          <a:solidFill>
            <a:srgbClr val="20232A"/>
          </a:solidFill>
          <a:ln w="8890">
            <a:solidFill>
              <a:srgbClr val="20232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65376"/>
            <a:ext cx="2807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76472" y="1865376"/>
            <a:ext cx="12070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57216" y="1865376"/>
            <a:ext cx="1307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47688" y="1865376"/>
            <a:ext cx="10332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2128" y="186537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PR-AUC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73184" y="1865376"/>
            <a:ext cx="1307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2331720"/>
            <a:ext cx="10927080" cy="466344"/>
          </a:xfrm>
          <a:prstGeom prst="rect">
            <a:avLst/>
          </a:prstGeom>
          <a:solidFill>
            <a:srgbClr val="FFF0F3"/>
          </a:solidFill>
          <a:ln w="8890">
            <a:solidFill>
              <a:srgbClr val="FFF0F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41401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76472" y="241401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82,7 %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57216" y="241401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74,8 %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47688" y="24140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0,786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82128" y="24140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73184" y="241401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0,911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" y="2816352"/>
            <a:ext cx="10927080" cy="4663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898648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Logística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76472" y="28986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81,3 %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57216" y="289864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74,5 %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47688" y="289864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0,778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82128" y="2898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73184" y="289864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0,903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67512" y="3300984"/>
            <a:ext cx="10927080" cy="466344"/>
          </a:xfrm>
          <a:prstGeom prst="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38328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76472" y="338328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82,7 %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57216" y="338328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73,4 %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47688" y="338328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0,778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82128" y="3383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473184" y="338328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0,909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7512" y="3785616"/>
            <a:ext cx="10927080" cy="4663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386791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776472" y="386791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82,4 %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57216" y="38679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73,4 %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47688" y="386791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0,776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882128" y="3867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0,871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473184" y="38679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0,910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67512" y="4270248"/>
            <a:ext cx="10927080" cy="466344"/>
          </a:xfrm>
          <a:prstGeom prst="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4352544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776472" y="43525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81,0 %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157216" y="435254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73,5 %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47688" y="43525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0,771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882128" y="43525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473184" y="435254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0,910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67512" y="4754880"/>
            <a:ext cx="10927080" cy="46634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483717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776472" y="48371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79,9 %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157216" y="483717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72,1 %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647688" y="483717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0,758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882128" y="48371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473184" y="483717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0,900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76656" y="5504688"/>
            <a:ext cx="10899648" cy="484632"/>
          </a:xfrm>
          <a:prstGeom prst="roundRect">
            <a:avLst>
              <a:gd name="adj" fmla="val 3773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1832" y="561441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XGBoost: mayor PR-AUC y mayor F1 en prueba, con Recall de 82,7 %.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significan las 314 alertas del modelo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confusión de XGBoost · umbral 0,474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07208" y="1645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65376" y="184708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abandono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184708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 rot="16200000">
            <a:off x="658368" y="299008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4688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abandono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379476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56232" y="2322576"/>
            <a:ext cx="2039112" cy="1133856"/>
          </a:xfrm>
          <a:prstGeom prst="roundRect">
            <a:avLst>
              <a:gd name="adj" fmla="val 1612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02536" y="248716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522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1947672" y="3108960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Verdaderos negativos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78224" y="2322576"/>
            <a:ext cx="2039112" cy="1133856"/>
          </a:xfrm>
          <a:prstGeom prst="roundRect">
            <a:avLst>
              <a:gd name="adj" fmla="val 16129"/>
            </a:avLst>
          </a:prstGeom>
          <a:solidFill>
            <a:srgbClr val="FFF4E2"/>
          </a:solidFill>
          <a:ln w="12700">
            <a:solidFill>
              <a:srgbClr val="FFF4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248716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4169664" y="3108960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Falsos positivos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56232" y="3694176"/>
            <a:ext cx="2039112" cy="1133856"/>
          </a:xfrm>
          <a:prstGeom prst="roundRect">
            <a:avLst>
              <a:gd name="adj" fmla="val 16129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02536" y="385876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100" dirty="0"/>
          </a:p>
        </p:txBody>
      </p:sp>
      <p:sp>
        <p:nvSpPr>
          <p:cNvPr id="24" name="Text 22"/>
          <p:cNvSpPr/>
          <p:nvPr/>
        </p:nvSpPr>
        <p:spPr>
          <a:xfrm>
            <a:off x="1947672" y="4480560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Falsos negativos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78224" y="3694176"/>
            <a:ext cx="2039112" cy="1133856"/>
          </a:xfrm>
          <a:prstGeom prst="roundRect">
            <a:avLst>
              <a:gd name="adj" fmla="val 16129"/>
            </a:avLst>
          </a:prstGeom>
          <a:solidFill>
            <a:srgbClr val="DCEFF0"/>
          </a:solidFill>
          <a:ln w="12700">
            <a:solidFill>
              <a:srgbClr val="DCEF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385876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3100" dirty="0"/>
          </a:p>
        </p:txBody>
      </p:sp>
      <p:sp>
        <p:nvSpPr>
          <p:cNvPr id="27" name="Text 25"/>
          <p:cNvSpPr/>
          <p:nvPr/>
        </p:nvSpPr>
        <p:spPr>
          <a:xfrm>
            <a:off x="4169664" y="4480560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Verdaderos positivos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30568" y="2029968"/>
            <a:ext cx="4215384" cy="1536192"/>
          </a:xfrm>
          <a:prstGeom prst="roundRect">
            <a:avLst>
              <a:gd name="adj" fmla="val 1190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2029968"/>
            <a:ext cx="64008" cy="153619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2194560"/>
            <a:ext cx="3849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82,7 %</a:t>
            </a:r>
            <a:endParaRPr lang="en-US" sz="3700" dirty="0"/>
          </a:p>
        </p:txBody>
      </p:sp>
      <p:sp>
        <p:nvSpPr>
          <p:cNvPr id="31" name="Text 29"/>
          <p:cNvSpPr/>
          <p:nvPr/>
        </p:nvSpPr>
        <p:spPr>
          <a:xfrm>
            <a:off x="7013448" y="2898648"/>
            <a:ext cx="3849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830568" y="3822192"/>
            <a:ext cx="4215384" cy="1536192"/>
          </a:xfrm>
          <a:prstGeom prst="roundRect">
            <a:avLst>
              <a:gd name="adj" fmla="val 1190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0568" y="3822192"/>
            <a:ext cx="64008" cy="1536192"/>
          </a:xfrm>
          <a:prstGeom prst="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3448" y="3986784"/>
            <a:ext cx="3849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00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74,8 %</a:t>
            </a:r>
            <a:endParaRPr lang="en-US" sz="3700" dirty="0"/>
          </a:p>
        </p:txBody>
      </p:sp>
      <p:sp>
        <p:nvSpPr>
          <p:cNvPr id="35" name="Text 33"/>
          <p:cNvSpPr/>
          <p:nvPr/>
        </p:nvSpPr>
        <p:spPr>
          <a:xfrm>
            <a:off x="7013448" y="4690872"/>
            <a:ext cx="3849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" y="613562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identifica 235 de 284 abandonos reales; quedan 49 casos sin alerta.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alertas no son todas iguales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los 314 estudiantes marcados por XGBoost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029968"/>
            <a:ext cx="8020511" cy="9144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267712"/>
            <a:ext cx="79656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752031" y="2029968"/>
            <a:ext cx="1501713" cy="914400"/>
          </a:xfrm>
          <a:prstGeom prst="rect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9463" y="2267712"/>
            <a:ext cx="14468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10253744" y="2029968"/>
            <a:ext cx="1194544" cy="914400"/>
          </a:xfrm>
          <a:prstGeom prst="rect">
            <a:avLst/>
          </a:prstGeom>
          <a:solidFill>
            <a:srgbClr val="ADB4BC"/>
          </a:solidFill>
          <a:ln w="8890">
            <a:solidFill>
              <a:srgbClr val="ADB4B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1176" y="2267712"/>
            <a:ext cx="113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795528" y="3401568"/>
            <a:ext cx="146304" cy="146304"/>
          </a:xfrm>
          <a:prstGeom prst="ellipse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32841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Abandonaron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52360" y="332841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74,8 % de las alertas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528" y="4059936"/>
            <a:ext cx="146304" cy="146304"/>
          </a:xfrm>
          <a:prstGeom prst="ellipse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98678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abandonaron, pero tenían señales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52360" y="3986784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14,0 % · notas bajas o pagos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5528" y="4718304"/>
            <a:ext cx="146304" cy="146304"/>
          </a:xfrm>
          <a:prstGeom prst="ellipse">
            <a:avLst/>
          </a:prstGeom>
          <a:solidFill>
            <a:srgbClr val="ADB4BC"/>
          </a:solidFill>
          <a:ln w="8890">
            <a:solidFill>
              <a:srgbClr val="ADB4B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64515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señales de riesgo observadas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52360" y="464515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11,1 % · falsas alarmas “reales”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8952" y="5614416"/>
            <a:ext cx="10753344" cy="438912"/>
          </a:xfrm>
          <a:prstGeom prst="roundRect">
            <a:avLst>
              <a:gd name="adj" fmla="val 41667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5715000"/>
            <a:ext cx="10305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señales ayudan a priorizar; no deben utilizarse para descartar alertas.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OPERATIVA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Recall exige contactar a más estudiantes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 de la alerta a distintos umbrales del modelo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07008" y="4115644"/>
            <a:ext cx="685800" cy="931844"/>
          </a:xfrm>
          <a:prstGeom prst="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7008" y="4207858"/>
            <a:ext cx="685800" cy="83963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4115644"/>
            <a:ext cx="685800" cy="92214"/>
          </a:xfrm>
          <a:prstGeom prst="rect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823036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9576" y="51937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6985" y="3858416"/>
            <a:ext cx="685800" cy="1189072"/>
          </a:xfrm>
          <a:prstGeom prst="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56985" y="4067111"/>
            <a:ext cx="685800" cy="980377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6985" y="3858416"/>
            <a:ext cx="685800" cy="208694"/>
          </a:xfrm>
          <a:prstGeom prst="rect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3833" y="3565808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29553" y="51937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06962" y="3703109"/>
            <a:ext cx="685800" cy="1344379"/>
          </a:xfrm>
          <a:prstGeom prst="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06962" y="3979750"/>
            <a:ext cx="685800" cy="1067738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06962" y="3703109"/>
            <a:ext cx="685800" cy="276641"/>
          </a:xfrm>
          <a:prstGeom prst="rect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33810" y="3410501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79530" y="51937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56939" y="3523535"/>
            <a:ext cx="685800" cy="1523953"/>
          </a:xfrm>
          <a:prstGeom prst="rect">
            <a:avLst/>
          </a:prstGeom>
          <a:solidFill>
            <a:srgbClr val="FFF0F3"/>
          </a:solidFill>
          <a:ln w="8890">
            <a:solidFill>
              <a:srgbClr val="FFF0F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6939" y="3906950"/>
            <a:ext cx="685800" cy="1140538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56939" y="3523535"/>
            <a:ext cx="685800" cy="383415"/>
          </a:xfrm>
          <a:prstGeom prst="rect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3787" y="3230927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29507" y="51937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06917" y="3178947"/>
            <a:ext cx="685800" cy="1868541"/>
          </a:xfrm>
          <a:prstGeom prst="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06917" y="3843856"/>
            <a:ext cx="685800" cy="120363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06917" y="3178947"/>
            <a:ext cx="685800" cy="664909"/>
          </a:xfrm>
          <a:prstGeom prst="rect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33765" y="2886339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79485" y="51937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56894" y="2790678"/>
            <a:ext cx="685800" cy="2256810"/>
          </a:xfrm>
          <a:prstGeom prst="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56894" y="3775909"/>
            <a:ext cx="685800" cy="1271579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56894" y="2790678"/>
            <a:ext cx="685800" cy="985231"/>
          </a:xfrm>
          <a:prstGeom prst="rect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3742" y="2498070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29462" y="51937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906871" y="2116062"/>
            <a:ext cx="685800" cy="2931426"/>
          </a:xfrm>
          <a:prstGeom prst="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06871" y="3741936"/>
            <a:ext cx="685800" cy="130555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06871" y="2116062"/>
            <a:ext cx="685800" cy="1625874"/>
          </a:xfrm>
          <a:prstGeom prst="rect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33719" y="1823454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879439" y="5193792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69264" y="5715000"/>
            <a:ext cx="137160" cy="137160"/>
          </a:xfrm>
          <a:prstGeom prst="ellipse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70432" y="5641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Detectados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880360" y="5715000"/>
            <a:ext cx="137160" cy="137160"/>
          </a:xfrm>
          <a:prstGeom prst="ellipse">
            <a:avLst/>
          </a:prstGeom>
          <a:solidFill>
            <a:srgbClr val="F6AA39"/>
          </a:solidFill>
          <a:ln w="8890">
            <a:solidFill>
              <a:srgbClr val="F6AA39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1528" y="56418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Falsas alarmas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23560" y="5605272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80 %: 314 alertas (235 abandonos + 79 falsas alarmas).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la capacidad es limitada: contactar al 30 %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priorización por riesgo concentra los abandonos en una fracción de estudiantes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76656" y="1847088"/>
            <a:ext cx="3401568" cy="2487168"/>
          </a:xfrm>
          <a:prstGeom prst="roundRect">
            <a:avLst>
              <a:gd name="adj" fmla="val 7353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1847088"/>
            <a:ext cx="64008" cy="2487168"/>
          </a:xfrm>
          <a:prstGeom prst="rect">
            <a:avLst/>
          </a:prstGeom>
          <a:solidFill>
            <a:srgbClr val="20232A"/>
          </a:solidFill>
          <a:ln w="8890">
            <a:solidFill>
              <a:srgbClr val="20232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011680"/>
            <a:ext cx="3035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265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859536" y="271576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contactados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9536" y="31729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30 % del conjunto de prueba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98264" y="1847088"/>
            <a:ext cx="3401568" cy="2487168"/>
          </a:xfrm>
          <a:prstGeom prst="roundRect">
            <a:avLst>
              <a:gd name="adj" fmla="val 7353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98264" y="1847088"/>
            <a:ext cx="64008" cy="2487168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2011680"/>
            <a:ext cx="3035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3700" dirty="0"/>
          </a:p>
        </p:txBody>
      </p:sp>
      <p:sp>
        <p:nvSpPr>
          <p:cNvPr id="18" name="Text 16"/>
          <p:cNvSpPr/>
          <p:nvPr/>
        </p:nvSpPr>
        <p:spPr>
          <a:xfrm>
            <a:off x="4581144" y="271576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abandonos dentro del grupo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81144" y="31729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73,6 % de los 284 abandonos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19872" y="1847088"/>
            <a:ext cx="3401568" cy="2487168"/>
          </a:xfrm>
          <a:prstGeom prst="roundRect">
            <a:avLst>
              <a:gd name="adj" fmla="val 7353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9872" y="1847088"/>
            <a:ext cx="64008" cy="2487168"/>
          </a:xfrm>
          <a:prstGeom prst="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2011680"/>
            <a:ext cx="30358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00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3700" dirty="0"/>
          </a:p>
        </p:txBody>
      </p:sp>
      <p:sp>
        <p:nvSpPr>
          <p:cNvPr id="23" name="Text 21"/>
          <p:cNvSpPr/>
          <p:nvPr/>
        </p:nvSpPr>
        <p:spPr>
          <a:xfrm>
            <a:off x="8302752" y="271576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 sin abandono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02752" y="317296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de la selección: 79 %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" y="4736592"/>
            <a:ext cx="10780776" cy="804672"/>
          </a:xfrm>
          <a:prstGeom prst="roundRect">
            <a:avLst>
              <a:gd name="adj" fmla="val 22727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4892040"/>
            <a:ext cx="10122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30 % de mayor riesgo se alcanza al 73,6 % de los alumnos que desertan.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0080" y="613562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estrategia de cupos es distinta del umbral general de 0,474, que marca 314 alumnos.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Tutorías grupales: escenario de impacto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del informe para una cohorte hipotética de ~440 alumnos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920240"/>
            <a:ext cx="3529584" cy="2157984"/>
          </a:xfrm>
          <a:prstGeom prst="roundRect">
            <a:avLst>
              <a:gd name="adj" fmla="val 847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1488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60120" y="294436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alumnos priorizados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53872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30 % de la cohorte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90288" y="1920240"/>
            <a:ext cx="3529584" cy="2157984"/>
          </a:xfrm>
          <a:prstGeom prst="roundRect">
            <a:avLst>
              <a:gd name="adj" fmla="val 847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488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00600" y="294436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abandonos esperados en el grupo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353872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rendimiento observado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1920240"/>
            <a:ext cx="3529584" cy="2157984"/>
          </a:xfrm>
          <a:prstGeom prst="roundRect">
            <a:avLst>
              <a:gd name="adj" fmla="val 8475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21488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641080" y="294436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alumnos retenidos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41080" y="353872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tutoría logra eficacia del 35 %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" y="4453128"/>
            <a:ext cx="10725912" cy="923544"/>
          </a:xfrm>
          <a:prstGeom prst="roundRect">
            <a:avLst>
              <a:gd name="adj" fmla="val 19802"/>
            </a:avLst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663440"/>
            <a:ext cx="100949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comisiones × 11 alumnos × 8 encuentros de 2 horas = 192 horas docentes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613562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ilustrativo sujeto a una prueba piloto. No es un efecto causal demostrado.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económico proyectado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Supuestos del informe: 35 % de eficacia de tutorías y €25 por hora docente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837944"/>
            <a:ext cx="3410712" cy="2148840"/>
          </a:xfrm>
          <a:prstGeom prst="roundRect">
            <a:avLst>
              <a:gd name="adj" fmla="val 8511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37944"/>
            <a:ext cx="64008" cy="2148840"/>
          </a:xfrm>
          <a:prstGeom prst="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02536"/>
            <a:ext cx="3044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007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€59.200</a:t>
            </a:r>
            <a:endParaRPr lang="en-US" sz="3700" dirty="0"/>
          </a:p>
        </p:txBody>
      </p:sp>
      <p:sp>
        <p:nvSpPr>
          <p:cNvPr id="13" name="Text 11"/>
          <p:cNvSpPr/>
          <p:nvPr/>
        </p:nvSpPr>
        <p:spPr>
          <a:xfrm>
            <a:off x="841248" y="2706624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cuotas que se dejan de perder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98264" y="1837944"/>
            <a:ext cx="3410712" cy="2148840"/>
          </a:xfrm>
          <a:prstGeom prst="roundRect">
            <a:avLst>
              <a:gd name="adj" fmla="val 8511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98264" y="1837944"/>
            <a:ext cx="64008" cy="2148840"/>
          </a:xfrm>
          <a:prstGeom prst="rect">
            <a:avLst/>
          </a:prstGeom>
          <a:solidFill>
            <a:srgbClr val="20232A"/>
          </a:solidFill>
          <a:ln w="8890">
            <a:solidFill>
              <a:srgbClr val="20232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2002536"/>
            <a:ext cx="3044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€4.800</a:t>
            </a:r>
            <a:endParaRPr lang="en-US" sz="3700" dirty="0"/>
          </a:p>
        </p:txBody>
      </p:sp>
      <p:sp>
        <p:nvSpPr>
          <p:cNvPr id="17" name="Text 15"/>
          <p:cNvSpPr/>
          <p:nvPr/>
        </p:nvSpPr>
        <p:spPr>
          <a:xfrm>
            <a:off x="4581144" y="2706624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tutorías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38160" y="1837944"/>
            <a:ext cx="3410712" cy="2148840"/>
          </a:xfrm>
          <a:prstGeom prst="roundRect">
            <a:avLst>
              <a:gd name="adj" fmla="val 8511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837944"/>
            <a:ext cx="64008" cy="214884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002536"/>
            <a:ext cx="30449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€54.400</a:t>
            </a:r>
            <a:endParaRPr lang="en-US" sz="3700" dirty="0"/>
          </a:p>
        </p:txBody>
      </p:sp>
      <p:sp>
        <p:nvSpPr>
          <p:cNvPr id="21" name="Text 19"/>
          <p:cNvSpPr/>
          <p:nvPr/>
        </p:nvSpPr>
        <p:spPr>
          <a:xfrm>
            <a:off x="8321040" y="2706624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neto anual estimado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2376" y="4434840"/>
            <a:ext cx="10771632" cy="850392"/>
          </a:xfrm>
          <a:prstGeom prst="roundRect">
            <a:avLst>
              <a:gd name="adj" fmla="val 21505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645152"/>
            <a:ext cx="9976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abandono anual: 32,1 %  →  23,9 %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" y="6135624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importes son una simulación económica del informe, no resultados observados de una intervención.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ÉTICA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el modelo todavía necesita mejorar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rendimiento promedio oculta diferencias importantes entre subgrupos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Mayores de 23 años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84448" y="1956816"/>
            <a:ext cx="7123176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4448" y="1956816"/>
            <a:ext cx="6660170" cy="155448"/>
          </a:xfrm>
          <a:prstGeom prst="round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08208" y="186080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93,5 %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42316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 nocturno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84448" y="2505456"/>
            <a:ext cx="7123176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4448" y="2505456"/>
            <a:ext cx="6296888" cy="155448"/>
          </a:xfrm>
          <a:prstGeom prst="roundRect">
            <a:avLst/>
          </a:prstGeom>
          <a:solidFill>
            <a:srgbClr val="007B82"/>
          </a:solidFill>
          <a:ln w="8890">
            <a:solidFill>
              <a:srgbClr val="007B8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8208" y="240944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88,4 %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297180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Hombres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84448" y="3054096"/>
            <a:ext cx="7123176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84448" y="3054096"/>
            <a:ext cx="6047576" cy="155448"/>
          </a:xfrm>
          <a:prstGeom prst="roundRect">
            <a:avLst/>
          </a:prstGeom>
          <a:solidFill>
            <a:srgbClr val="36526C"/>
          </a:solidFill>
          <a:ln w="8890">
            <a:solidFill>
              <a:srgbClr val="36526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08208" y="295808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84,9 %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52044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Mujeres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84448" y="3602736"/>
            <a:ext cx="7123176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84448" y="3602736"/>
            <a:ext cx="5727034" cy="155448"/>
          </a:xfrm>
          <a:prstGeom prst="roundRect">
            <a:avLst/>
          </a:prstGeom>
          <a:solidFill>
            <a:srgbClr val="36526C"/>
          </a:solidFill>
          <a:ln w="8890">
            <a:solidFill>
              <a:srgbClr val="36526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08208" y="350672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80,4 %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406908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Becarios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84448" y="4151376"/>
            <a:ext cx="7123176" cy="155448"/>
          </a:xfrm>
          <a:prstGeom prst="roundRect">
            <a:avLst/>
          </a:prstGeom>
          <a:solidFill>
            <a:srgbClr val="F5F6F8"/>
          </a:solidFill>
          <a:ln w="8890">
            <a:solidFill>
              <a:srgbClr val="F5F6F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84448" y="4151376"/>
            <a:ext cx="3931993" cy="155448"/>
          </a:xfrm>
          <a:prstGeom prst="round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08208" y="405536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55,2 %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5528" y="5074920"/>
            <a:ext cx="10716768" cy="822960"/>
          </a:xfrm>
          <a:prstGeom prst="roundRect">
            <a:avLst>
              <a:gd name="adj" fmla="val 22222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5221224"/>
            <a:ext cx="1012240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abandonos no detectados: 81 % de materias aprobadas en promedio, matrícula al día en todos los casos.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6053328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validación temporal: falta el año de ingreso. Revisar desempeño por grupos y usar alertas solo para ofrecer ayuda.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65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76072" y="612648"/>
            <a:ext cx="11064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próximos pasos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alerta es una herramienta de acompañamiento, no una decisión automática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6437376"/>
            <a:ext cx="10972800" cy="0"/>
          </a:xfrm>
          <a:prstGeom prst="line">
            <a:avLst/>
          </a:prstGeom>
          <a:noFill/>
          <a:ln w="10160">
            <a:solidFill>
              <a:srgbClr val="E1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651052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UTN.BA  ·  Diplomado en Ciencia de Datos  ·  Equipo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92240"/>
            <a:ext cx="4480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1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58952" y="1856232"/>
            <a:ext cx="10698480" cy="1024128"/>
          </a:xfrm>
          <a:prstGeom prst="roundRect">
            <a:avLst>
              <a:gd name="adj" fmla="val 17857"/>
            </a:avLst>
          </a:prstGeom>
          <a:solidFill>
            <a:srgbClr val="FFF0F3"/>
          </a:solidFill>
          <a:ln w="12700">
            <a:solidFill>
              <a:srgbClr val="FFF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2185416"/>
            <a:ext cx="475488" cy="329184"/>
          </a:xfrm>
          <a:prstGeom prst="roundRect">
            <a:avLst>
              <a:gd name="adj" fmla="val 36111"/>
            </a:avLst>
          </a:prstGeom>
          <a:solidFill>
            <a:srgbClr val="CC1737"/>
          </a:solidFill>
          <a:ln w="12700">
            <a:solidFill>
              <a:srgbClr val="CC17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222656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46504" y="2020824"/>
            <a:ext cx="2313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178808" y="2011680"/>
            <a:ext cx="6848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el desempeño sobre una nueva cohorte y realizar un piloto de tutorías.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8952" y="3118104"/>
            <a:ext cx="10698480" cy="1024128"/>
          </a:xfrm>
          <a:prstGeom prst="roundRect">
            <a:avLst>
              <a:gd name="adj" fmla="val 17857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696" y="3447288"/>
            <a:ext cx="475488" cy="329184"/>
          </a:xfrm>
          <a:prstGeom prst="roundRect">
            <a:avLst>
              <a:gd name="adj" fmla="val 36111"/>
            </a:avLst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3488436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46504" y="3282696"/>
            <a:ext cx="2313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datos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178808" y="3273552"/>
            <a:ext cx="6848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asistencia, uso del campus y razones declaradas de abandono.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" y="4379976"/>
            <a:ext cx="10698480" cy="1024128"/>
          </a:xfrm>
          <a:prstGeom prst="roundRect">
            <a:avLst>
              <a:gd name="adj" fmla="val 17857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" y="4709160"/>
            <a:ext cx="475488" cy="329184"/>
          </a:xfrm>
          <a:prstGeom prst="roundRect">
            <a:avLst>
              <a:gd name="adj" fmla="val 36111"/>
            </a:avLst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" y="475030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46504" y="4544568"/>
            <a:ext cx="2313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Supervisar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178808" y="4535424"/>
            <a:ext cx="68488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resultados por grupo, verificar fecha de variables de pago y reentrenar anualmente.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" y="5769864"/>
            <a:ext cx="10725912" cy="438912"/>
          </a:xfrm>
          <a:prstGeom prst="roundRect">
            <a:avLst>
              <a:gd name="adj" fmla="val 41667"/>
            </a:avLst>
          </a:prstGeom>
          <a:solidFill>
            <a:srgbClr val="20232A"/>
          </a:solidFill>
          <a:ln w="12700">
            <a:solidFill>
              <a:srgbClr val="2023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5833872"/>
            <a:ext cx="10268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a 8 de cada 10 abandonos permite actuar antes, siempre con revisión humana.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pic>
        <p:nvPicPr>
          <p:cNvPr id="3" name="Image 0" descr="/mnt/data/image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512064"/>
            <a:ext cx="3246120" cy="667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824" y="1901952"/>
            <a:ext cx="9701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2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896112" y="3209544"/>
            <a:ext cx="868680" cy="82296"/>
          </a:xfrm>
          <a:prstGeom prst="rect">
            <a:avLst/>
          </a:prstGeom>
          <a:solidFill>
            <a:srgbClr val="CC1737"/>
          </a:solidFill>
          <a:ln w="8890">
            <a:solidFill>
              <a:srgbClr val="CC173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" y="3566160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64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debate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0" y="5596128"/>
            <a:ext cx="12191695" cy="1261872"/>
          </a:xfrm>
          <a:prstGeom prst="rect">
            <a:avLst/>
          </a:prstGeom>
          <a:solidFill>
            <a:srgbClr val="20232A"/>
          </a:solidFill>
          <a:ln w="8890">
            <a:solidFill>
              <a:srgbClr val="20232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59436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13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657600" y="5943600"/>
            <a:ext cx="7443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dirty="0">
                <a:solidFill>
                  <a:srgbClr val="E6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Cadaveira · Gimenez · Barbieri · Vázquez · Amaya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UTN.BA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Alerta temprana de deserción universitaria — Equipo 13</dc:title>
  <dc:subject>Proyecto Final Integrador · Alerta temprana de deserción universitaria</dc:subject>
  <dc:creator>Equipo 13 · UTN.BA Centro de e-Learning</dc:creator>
  <cp:lastModifiedBy>Equipo 13 · UTN.BA Centro de e-Learning</cp:lastModifiedBy>
  <cp:revision>1</cp:revision>
  <dcterms:created xsi:type="dcterms:W3CDTF">2026-10-26T10:35:59Z</dcterms:created>
  <dcterms:modified xsi:type="dcterms:W3CDTF">2026-10-26T10:35:59Z</dcterms:modified>
</cp:coreProperties>
</file>